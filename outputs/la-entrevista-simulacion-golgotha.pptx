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b4e48e26de940bf" /><Relationship Type="http://schemas.openxmlformats.org/officeDocument/2006/relationships/extended-properties" Target="/docProps/app.xml" Id="R306a9aa69e5a480d" /><Relationship Type="http://schemas.openxmlformats.org/officeDocument/2006/relationships/officeDocument" Target="/ppt/presentation.xml" Id="Rc6ddaf36dbee440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dc95fe276644c52"/>
  </p:sldMasterIdLst>
  <p:notesMasterIdLst>
    <p:notesMasterId xmlns:r="http://schemas.openxmlformats.org/officeDocument/2006/relationships" r:id="R45cc705038cf4d8c"/>
  </p:notesMasterIdLst>
  <p:sldIdLst>
    <p:sldId xmlns:r="http://schemas.openxmlformats.org/officeDocument/2006/relationships" id="256" r:id="R039ec66f486e435b"/>
    <p:sldId xmlns:r="http://schemas.openxmlformats.org/officeDocument/2006/relationships" id="257" r:id="R3f6235bcb87543d2"/>
    <p:sldId xmlns:r="http://schemas.openxmlformats.org/officeDocument/2006/relationships" id="258" r:id="Rd0dfe20e81c44d4e"/>
    <p:sldId xmlns:r="http://schemas.openxmlformats.org/officeDocument/2006/relationships" id="259" r:id="R40d1440eb1a049ee"/>
    <p:sldId xmlns:r="http://schemas.openxmlformats.org/officeDocument/2006/relationships" id="260" r:id="Rbb020cba004640f0"/>
    <p:sldId xmlns:r="http://schemas.openxmlformats.org/officeDocument/2006/relationships" id="261" r:id="R30aae7d8c8e04e03"/>
    <p:sldId xmlns:r="http://schemas.openxmlformats.org/officeDocument/2006/relationships" id="262" r:id="Rf849cce408074418"/>
    <p:sldId xmlns:r="http://schemas.openxmlformats.org/officeDocument/2006/relationships" id="263" r:id="R02a11ad155e240d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93b131b87a6477a" /><Relationship Type="http://schemas.openxmlformats.org/officeDocument/2006/relationships/slideMaster" Target="/ppt/slideMasters/slideMaster1.xml" Id="Rfdc95fe276644c52" /><Relationship Type="http://schemas.openxmlformats.org/officeDocument/2006/relationships/notesMaster" Target="/ppt/notesMasters/notesMaster1.xml" Id="R45cc705038cf4d8c" /><Relationship Type="http://schemas.openxmlformats.org/officeDocument/2006/relationships/presProps" Target="/ppt/presProps.xml" Id="R22d739cb03cd436f" /><Relationship Type="http://schemas.openxmlformats.org/officeDocument/2006/relationships/tableStyles" Target="/ppt/tableStyles.xml" Id="Rd78f87f9281a43a0" /><Relationship Type="http://schemas.openxmlformats.org/officeDocument/2006/relationships/slide" Target="/ppt/slides/slide1.xml" Id="R039ec66f486e435b" /><Relationship Type="http://schemas.openxmlformats.org/officeDocument/2006/relationships/slide" Target="/ppt/slides/slide2.xml" Id="R3f6235bcb87543d2" /><Relationship Type="http://schemas.openxmlformats.org/officeDocument/2006/relationships/slide" Target="/ppt/slides/slide3.xml" Id="Rd0dfe20e81c44d4e" /><Relationship Type="http://schemas.openxmlformats.org/officeDocument/2006/relationships/slide" Target="/ppt/slides/slide4.xml" Id="R40d1440eb1a049ee" /><Relationship Type="http://schemas.openxmlformats.org/officeDocument/2006/relationships/slide" Target="/ppt/slides/slide5.xml" Id="Rbb020cba004640f0" /><Relationship Type="http://schemas.openxmlformats.org/officeDocument/2006/relationships/slide" Target="/ppt/slides/slide6.xml" Id="R30aae7d8c8e04e03" /><Relationship Type="http://schemas.openxmlformats.org/officeDocument/2006/relationships/slide" Target="/ppt/slides/slide7.xml" Id="Rf849cce408074418" /><Relationship Type="http://schemas.openxmlformats.org/officeDocument/2006/relationships/slide" Target="/ppt/slides/slide8.xml" Id="R02a11ad155e240d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1206714e634455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3c7ca8b15934b45" /><Relationship Type="http://schemas.openxmlformats.org/officeDocument/2006/relationships/notesMaster" Target="/ppt/notesMasters/notesMaster1.xml" Id="Ra66eaa5ea0184e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8c3780a7b074b1a" /><Relationship Type="http://schemas.openxmlformats.org/officeDocument/2006/relationships/notesMaster" Target="/ppt/notesMasters/notesMaster1.xml" Id="Rfb78769d98f9497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d1770d8bfd041d6" /><Relationship Type="http://schemas.openxmlformats.org/officeDocument/2006/relationships/notesMaster" Target="/ppt/notesMasters/notesMaster1.xml" Id="R8dd115fd2e1d4b4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e441018b03145de" /><Relationship Type="http://schemas.openxmlformats.org/officeDocument/2006/relationships/notesMaster" Target="/ppt/notesMasters/notesMaster1.xml" Id="R27423afcc4de43c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f9439121f014a59" /><Relationship Type="http://schemas.openxmlformats.org/officeDocument/2006/relationships/notesMaster" Target="/ppt/notesMasters/notesMaster1.xml" Id="R3fc9f6d11dd34b9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d63caafb165425b" /><Relationship Type="http://schemas.openxmlformats.org/officeDocument/2006/relationships/notesMaster" Target="/ppt/notesMasters/notesMaster1.xml" Id="Rf74a1dc24e9b49b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12782ed3329435a" /><Relationship Type="http://schemas.openxmlformats.org/officeDocument/2006/relationships/notesMaster" Target="/ppt/notesMasters/notesMaster1.xml" Id="R77bf79319a794c7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d07f91173e7478f" /><Relationship Type="http://schemas.openxmlformats.org/officeDocument/2006/relationships/notesMaster" Target="/ppt/notesMasters/notesMaster1.xml" Id="R314dbce28e9347e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fb998116d440f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ed1c34e04794354" /><Relationship Type="http://schemas.openxmlformats.org/officeDocument/2006/relationships/slideLayout" Target="/ppt/slideLayouts/slideLayout1.xml" Id="R4017c2d9f5494e6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017c2d9f5494e6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6c856fc62648ee" /><Relationship Type="http://schemas.openxmlformats.org/officeDocument/2006/relationships/notesSlide" Target="/ppt/notesSlides/notesSlide1.xml" Id="Rfe57372331764b5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0ac14863c14bdc" /><Relationship Type="http://schemas.openxmlformats.org/officeDocument/2006/relationships/notesSlide" Target="/ppt/notesSlides/notesSlide2.xml" Id="R4ceda3d04f8347a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685296c55e4054" /><Relationship Type="http://schemas.openxmlformats.org/officeDocument/2006/relationships/notesSlide" Target="/ppt/notesSlides/notesSlide3.xml" Id="Re2bd650b40a94d7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4f2e938d3a494c" /><Relationship Type="http://schemas.openxmlformats.org/officeDocument/2006/relationships/notesSlide" Target="/ppt/notesSlides/notesSlide4.xml" Id="R2d2596645cb640d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125b61830d482a" /><Relationship Type="http://schemas.openxmlformats.org/officeDocument/2006/relationships/notesSlide" Target="/ppt/notesSlides/notesSlide5.xml" Id="R2580afb82ad8400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59be62e8824128" /><Relationship Type="http://schemas.openxmlformats.org/officeDocument/2006/relationships/notesSlide" Target="/ppt/notesSlides/notesSlide6.xml" Id="Ra329eee28281446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f7ed5b84f643ca" /><Relationship Type="http://schemas.openxmlformats.org/officeDocument/2006/relationships/notesSlide" Target="/ppt/notesSlides/notesSlide7.xml" Id="R09d4d0be3b2b459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41543089dc42d5" /><Relationship Type="http://schemas.openxmlformats.org/officeDocument/2006/relationships/notesSlide" Target="/ppt/notesSlides/notesSlide8.xml" Id="R655d9b30337f4d3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D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83F2A6-B90F-49DB-862D-D2614FC48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000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02821"/>
                </a:solidFill>
              </a:defRPr>
            </a:pPr>
            <a:r>
              <a:rPr sz="900" b="1">
                <a:solidFill>
                  <a:srgbClr val="202821"/>
                </a:solidFill>
              </a:rPr>
              <a:t>GOLGOTHA ACADEMY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2B6D6A-21C5-4FF5-A13F-B302D718C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7048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C7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B07CCD-0E22-48DA-8CA7-E43990C97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914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C7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1D7B12-8D4D-4AB7-A903-1767596C7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3C766"/>
                </a:solidFill>
              </a:defRPr>
            </a:pPr>
            <a:r>
              <a:rPr sz="975" b="1">
                <a:solidFill>
                  <a:srgbClr val="33C766"/>
                </a:solidFill>
              </a:rPr>
              <a:t>SIMULACIÓN DE ENTREVISTA GRUPAL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5756F6-660E-41A9-BFD5-EE3652B6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19350"/>
            <a:ext cx="7429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202821"/>
                </a:solidFill>
              </a:defRPr>
            </a:pPr>
            <a:r>
              <a:rPr sz="4350" b="1">
                <a:solidFill>
                  <a:srgbClr val="202821"/>
                </a:solidFill>
              </a:rPr>
              <a:t>Responder como equipo docente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D0B920-51D8-4DC1-A874-D55297990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0"/>
            <a:ext cx="723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87369"/>
                </a:solidFill>
              </a:defRPr>
            </a:pPr>
            <a:r>
              <a:rPr sz="1725">
                <a:solidFill>
                  <a:srgbClr val="687369"/>
                </a:solidFill>
              </a:rPr>
              <a:t>Preparación visual basada en el caso institucional entregado: lectura crítica, convivencia, inclusión y articulación con la institución.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6438C5-4E8C-4551-ABF3-B2C27F095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86500"/>
            <a:ext cx="609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87369"/>
                </a:solidFill>
              </a:defRPr>
            </a:pPr>
            <a:r>
              <a:rPr sz="750">
                <a:solidFill>
                  <a:srgbClr val="687369"/>
                </a:solidFill>
              </a:rPr>
              <a:t>Fuente: documento entregado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468C34-3274-42EF-95D0-34ACBB9F4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2865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87369"/>
                </a:solidFill>
              </a:defRPr>
            </a:pPr>
            <a:r>
              <a:rPr sz="750">
                <a:solidFill>
                  <a:srgbClr val="687369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733581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D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59086D-4992-4B5D-8479-C85C6B236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000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02821"/>
                </a:solidFill>
              </a:defRPr>
            </a:pPr>
            <a:r>
              <a:rPr sz="900" b="1">
                <a:solidFill>
                  <a:srgbClr val="202821"/>
                </a:solidFill>
              </a:rPr>
              <a:t>GOLGOTHA ACADEMY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31E4D6-8EC1-4E61-BC6B-2E925D65C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7048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C7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BC1A7C-2739-4717-A530-9A7016548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2821"/>
                </a:solidFill>
              </a:defRPr>
            </a:pPr>
            <a:r>
              <a:rPr sz="3150" b="1">
                <a:solidFill>
                  <a:srgbClr val="202821"/>
                </a:solidFill>
              </a:rPr>
              <a:t>Lo que evalúan no es solo la respuesta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907BFB-DA8E-4E31-80D1-9DAACF74F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57350"/>
            <a:ext cx="742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87369"/>
                </a:solidFill>
              </a:defRPr>
            </a:pPr>
            <a:r>
              <a:rPr sz="1650">
                <a:solidFill>
                  <a:srgbClr val="687369"/>
                </a:solidFill>
              </a:rPr>
              <a:t>El evaluador observa cómo el equipo piensa, escucha y construye una solución sin repetir aportes.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F1E8F9-715E-47FD-A83B-E27E698CA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67000"/>
            <a:ext cx="32004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52AE8B-E43A-4183-8BDC-E7D03C435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3370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C7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D78B98-414A-4068-BAF4-B4F8F74D0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81350"/>
            <a:ext cx="2705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02821"/>
                </a:solidFill>
              </a:defRPr>
            </a:pPr>
            <a:r>
              <a:rPr sz="1725" b="1">
                <a:solidFill>
                  <a:srgbClr val="202821"/>
                </a:solidFill>
              </a:rPr>
              <a:t>Escucha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DB607F-502B-4189-B6A0-5FA4C6C7E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1950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87369"/>
                </a:solidFill>
              </a:defRPr>
            </a:pPr>
            <a:r>
              <a:rPr sz="1125">
                <a:solidFill>
                  <a:srgbClr val="687369"/>
                </a:solidFill>
              </a:rPr>
              <a:t>Construir sobre ideas de otros.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E4E891-8279-4436-8B19-4C02F11C6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667000"/>
            <a:ext cx="32004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466C99-D246-4B8D-85D8-4AC3A05E2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93370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C7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C8E252-6632-4AA1-8256-0ACE3FE9B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81350"/>
            <a:ext cx="2705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02821"/>
                </a:solidFill>
              </a:defRPr>
            </a:pPr>
            <a:r>
              <a:rPr sz="1725" b="1">
                <a:solidFill>
                  <a:srgbClr val="202821"/>
                </a:solidFill>
              </a:rPr>
              <a:t>Turnos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AF1FE3-CCF0-4BF2-8F3E-EECF81378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1950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87369"/>
                </a:solidFill>
              </a:defRPr>
            </a:pPr>
            <a:r>
              <a:rPr sz="1125">
                <a:solidFill>
                  <a:srgbClr val="687369"/>
                </a:solidFill>
              </a:rPr>
              <a:t>Participar sin monopolizar.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4DF81E-F014-4F02-9CFE-F26A45061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667000"/>
            <a:ext cx="32004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CFE12C-B6AA-4C51-82E6-87233FAAD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3370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C7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BFC6CC-CFCB-424D-B23B-490202734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81350"/>
            <a:ext cx="2705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02821"/>
                </a:solidFill>
              </a:defRPr>
            </a:pPr>
            <a:r>
              <a:rPr sz="1725" b="1">
                <a:solidFill>
                  <a:srgbClr val="202821"/>
                </a:solidFill>
              </a:rPr>
              <a:t>Fundamento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52D0A3-9557-48C4-A91C-1A283A6CE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1950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87369"/>
                </a:solidFill>
              </a:defRPr>
            </a:pPr>
            <a:r>
              <a:rPr sz="1125">
                <a:solidFill>
                  <a:srgbClr val="687369"/>
                </a:solidFill>
              </a:rPr>
              <a:t>Sostener la propuesta pedagógicamente.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A39AB1-7FEB-4FA9-A68E-2F7168AB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91000"/>
            <a:ext cx="32004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3B9418-E89D-41C5-BE22-2E418E260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5770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C7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CDBA36-DB5F-44BD-9970-0D7355285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05350"/>
            <a:ext cx="2705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02821"/>
                </a:solidFill>
              </a:defRPr>
            </a:pPr>
            <a:r>
              <a:rPr sz="1725" b="1">
                <a:solidFill>
                  <a:srgbClr val="202821"/>
                </a:solidFill>
              </a:rPr>
              <a:t>Seguimiento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56D624-5ADF-443D-8F7D-E97A33196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4350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87369"/>
                </a:solidFill>
              </a:defRPr>
            </a:pPr>
            <a:r>
              <a:rPr sz="1125">
                <a:solidFill>
                  <a:srgbClr val="687369"/>
                </a:solidFill>
              </a:rPr>
              <a:t>Hacer evaluable la intervención.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60D746-E0BD-4001-B184-6458E88C9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191000"/>
            <a:ext cx="32004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2E7FB7-8E92-44AF-9A97-57B2E43F5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45770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C7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C1B1AC-B3AA-44A3-813F-A9C8F81C0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705350"/>
            <a:ext cx="2705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02821"/>
                </a:solidFill>
              </a:defRPr>
            </a:pPr>
            <a:r>
              <a:rPr sz="1725" b="1">
                <a:solidFill>
                  <a:srgbClr val="202821"/>
                </a:solidFill>
              </a:rPr>
              <a:t>Articulación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344858-E343-48A5-ACAB-133624D61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14350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87369"/>
                </a:solidFill>
              </a:defRPr>
            </a:pPr>
            <a:r>
              <a:rPr sz="1125">
                <a:solidFill>
                  <a:srgbClr val="687369"/>
                </a:solidFill>
              </a:rPr>
              <a:t>Conectar PEI, SIEE y convivencia.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D15F97-D8CB-4C61-955C-1A1E3C64C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86500"/>
            <a:ext cx="609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87369"/>
                </a:solidFill>
              </a:defRPr>
            </a:pPr>
            <a:r>
              <a:rPr sz="750">
                <a:solidFill>
                  <a:srgbClr val="687369"/>
                </a:solidFill>
              </a:rPr>
              <a:t>Fuente: documento entregado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7F0B03-4677-461C-B706-72E933E44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2865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87369"/>
                </a:solidFill>
              </a:defRPr>
            </a:pPr>
            <a:r>
              <a:rPr sz="750">
                <a:solidFill>
                  <a:srgbClr val="687369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039335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D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C89236-2D9C-4841-A4CA-131F31AF1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000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02821"/>
                </a:solidFill>
              </a:defRPr>
            </a:pPr>
            <a:r>
              <a:rPr sz="900" b="1">
                <a:solidFill>
                  <a:srgbClr val="202821"/>
                </a:solidFill>
              </a:rPr>
              <a:t>GOLGOTHA ACADEMY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C8F822-A88C-46CB-B0AF-80408577C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7048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C7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411827-92A4-4091-8737-AB8D36AF2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52500"/>
            <a:ext cx="781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02821"/>
                </a:solidFill>
              </a:defRPr>
            </a:pPr>
            <a:r>
              <a:rPr sz="3000" b="1">
                <a:solidFill>
                  <a:srgbClr val="202821"/>
                </a:solidFill>
              </a:rPr>
              <a:t>El caso combina aprendizaje, convivencia e inclusión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932871-DBC3-4440-9295-6B75C4497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87369"/>
                </a:solidFill>
              </a:defRPr>
            </a:pPr>
            <a:r>
              <a:rPr sz="1575">
                <a:solidFill>
                  <a:srgbClr val="687369"/>
                </a:solidFill>
              </a:rPr>
              <a:t>No conviene responder solo con más talleres o evaluación más dura: el problema tiene varias capas.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8BE32A-C80D-42DC-BAE4-293AD0F0D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123950"/>
            <a:ext cx="314325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176F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950150-A8AB-4524-B958-CA56459BA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504950"/>
            <a:ext cx="247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5250" b="1">
                <a:solidFill>
                  <a:srgbClr val="FFFFFF"/>
                </a:solidFill>
              </a:defRPr>
            </a:pPr>
            <a:r>
              <a:rPr sz="5250" b="1">
                <a:solidFill>
                  <a:srgbClr val="FFFFFF"/>
                </a:solidFill>
              </a:rPr>
              <a:t>62%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DA9EB8-BB1E-48B7-AD9A-D7AE455E8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62200"/>
            <a:ext cx="238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DCEFE0"/>
                </a:solidFill>
              </a:defRPr>
            </a:pPr>
            <a:r>
              <a:rPr sz="1425">
                <a:solidFill>
                  <a:srgbClr val="DCEFE0"/>
                </a:solidFill>
              </a:rPr>
              <a:t>no logra justificar respuestas con evidencia del texto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B40BA7-8299-4D7B-A60D-CD2A26279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81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C7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ED039A-4139-4C6B-8491-68045494A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C0FB6D-E9CD-470D-8AFB-CC95026D6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162300"/>
            <a:ext cx="5734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02821"/>
                </a:solidFill>
              </a:defRPr>
            </a:pPr>
            <a:r>
              <a:rPr sz="1800" b="1">
                <a:solidFill>
                  <a:srgbClr val="202821"/>
                </a:solidFill>
              </a:rPr>
              <a:t>38 estudiantes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04E143-82CF-4F07-A7C9-E720E3297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7100"/>
            <a:ext cx="5734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87369"/>
                </a:solidFill>
              </a:defRPr>
            </a:pPr>
            <a:r>
              <a:rPr sz="1200">
                <a:solidFill>
                  <a:srgbClr val="687369"/>
                </a:solidFill>
              </a:rPr>
              <a:t>Grupo numeroso con participación baja e interrupciones frecuentes.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50A33A-6CEB-4C35-8A81-4E09963E5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624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C7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CB7468-39EB-456D-B875-7FC9ADFF5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386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7D775A-0E0B-4E70-9B1A-BD7B13DEC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43350"/>
            <a:ext cx="5734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02821"/>
                </a:solidFill>
              </a:defRPr>
            </a:pPr>
            <a:r>
              <a:rPr sz="1800" b="1">
                <a:solidFill>
                  <a:srgbClr val="202821"/>
                </a:solidFill>
              </a:rPr>
              <a:t>Ausentismo y atención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CE8775-CAD7-4C36-8A6F-C4105E956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248150"/>
            <a:ext cx="5734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87369"/>
                </a:solidFill>
              </a:defRPr>
            </a:pPr>
            <a:r>
              <a:rPr sz="1200">
                <a:solidFill>
                  <a:srgbClr val="687369"/>
                </a:solidFill>
              </a:rPr>
              <a:t>Cuatro estudiantes con ausentismo recurrente y dos con diagnóstico relacionado con atención.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D9B3BE-D5F7-4772-9EE1-57427196C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C7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42E8F1-835D-4ABD-BB42-82BBAE506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196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4B9EB8-802A-4D9C-BF27-4B9910F29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724400"/>
            <a:ext cx="5734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02821"/>
                </a:solidFill>
              </a:defRPr>
            </a:pPr>
            <a:r>
              <a:rPr sz="1800" b="1">
                <a:solidFill>
                  <a:srgbClr val="202821"/>
                </a:solidFill>
              </a:rPr>
              <a:t>Percepción de la lectura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C1D617-246C-4176-B0D4-ABA6410F4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029200"/>
            <a:ext cx="5734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87369"/>
                </a:solidFill>
              </a:defRPr>
            </a:pPr>
            <a:r>
              <a:rPr sz="1200">
                <a:solidFill>
                  <a:srgbClr val="687369"/>
                </a:solidFill>
              </a:rPr>
              <a:t>Varios estudiantes manifiestan aburrimiento o dificultad para comprender textos.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72D8E1-A3FA-4AFC-A658-746DCF511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86500"/>
            <a:ext cx="609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87369"/>
                </a:solidFill>
              </a:defRPr>
            </a:pPr>
            <a:r>
              <a:rPr sz="750">
                <a:solidFill>
                  <a:srgbClr val="687369"/>
                </a:solidFill>
              </a:rPr>
              <a:t>Fuente: documento entregado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F4D69D-5CDF-4C1C-9536-79146FB71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2865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87369"/>
                </a:solidFill>
              </a:defRPr>
            </a:pPr>
            <a:r>
              <a:rPr sz="750">
                <a:solidFill>
                  <a:srgbClr val="687369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23771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76F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D2969A-E5F5-4CAE-89DE-F5E935A60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000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GOLGOTHA ACADEMY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13AB07-19A4-4F04-B98F-57D34D329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7048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DBA144-0CB4-4ADC-B4FD-B57754E7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7F5DE"/>
                </a:solidFill>
              </a:defRPr>
            </a:pPr>
            <a:r>
              <a:rPr sz="975" b="1">
                <a:solidFill>
                  <a:srgbClr val="D7F5DE"/>
                </a:solidFill>
              </a:rPr>
              <a:t>SÍNTESIS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9A12C0-7777-46CB-889B-1ADC9E0F3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7810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La respuesta debe evitar culpar y organizar una intervención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A2C752-BFCD-4970-99E5-1EC93197F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914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8811FE-5FD9-4179-BD5D-E51D0C41D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0"/>
            <a:ext cx="7048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DCEFE0"/>
                </a:solidFill>
              </a:defRPr>
            </a:pPr>
            <a:r>
              <a:rPr sz="1800">
                <a:solidFill>
                  <a:srgbClr val="DCEFE0"/>
                </a:solidFill>
              </a:rPr>
              <a:t>El caso pide una postura pedagógica: reconocer barreras, diseñar apoyos y demostrar seguimiento institucional.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501028-B1F0-4135-A1EB-B6A9BA76D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86500"/>
            <a:ext cx="609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87369"/>
                </a:solidFill>
              </a:defRPr>
            </a:pPr>
            <a:r>
              <a:rPr sz="750">
                <a:solidFill>
                  <a:srgbClr val="687369"/>
                </a:solidFill>
              </a:rPr>
              <a:t>Síntesis derivada del caso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152041-D7F4-42AD-835C-A20C0A2DC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2865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87369"/>
                </a:solidFill>
              </a:defRPr>
            </a:pPr>
            <a:r>
              <a:rPr sz="750">
                <a:solidFill>
                  <a:srgbClr val="687369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101173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D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CBED12-EFF1-49B5-8BA6-3DFDA470A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000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02821"/>
                </a:solidFill>
              </a:defRPr>
            </a:pPr>
            <a:r>
              <a:rPr sz="900" b="1">
                <a:solidFill>
                  <a:srgbClr val="202821"/>
                </a:solidFill>
              </a:rPr>
              <a:t>GOLGOTHA ACADEMY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55A7C6-6205-47FC-A40E-3539CA869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7048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C7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02D8D7-E4CF-4802-8B4A-02F5F56DA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6300"/>
            <a:ext cx="742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2821"/>
                </a:solidFill>
              </a:defRPr>
            </a:pPr>
            <a:r>
              <a:rPr sz="3150" b="1">
                <a:solidFill>
                  <a:srgbClr val="202821"/>
                </a:solidFill>
              </a:rPr>
              <a:t>Ruta de intervención: cuatro movimientos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D75E73-2F92-4E0A-98EC-407677D23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657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87369"/>
                </a:solidFill>
              </a:defRPr>
            </a:pPr>
            <a:r>
              <a:rPr sz="1575">
                <a:solidFill>
                  <a:srgbClr val="687369"/>
                </a:solidFill>
              </a:rPr>
              <a:t>Una buena respuesta muestra proceso, no una solución aislada.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BF9D46-D945-4723-858C-830E1F886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C7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FE05DB-43D3-4AD2-8773-64ECE9D1C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98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270A69-D810-44AB-93BA-CE780969B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14575"/>
            <a:ext cx="840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02821"/>
                </a:solidFill>
              </a:defRPr>
            </a:pPr>
            <a:r>
              <a:rPr sz="1800" b="1">
                <a:solidFill>
                  <a:srgbClr val="202821"/>
                </a:solidFill>
              </a:rPr>
              <a:t>Diagnosticar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58B344-4426-42AC-8C6B-47ABFEC27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19375"/>
            <a:ext cx="8401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87369"/>
                </a:solidFill>
              </a:defRPr>
            </a:pPr>
            <a:r>
              <a:rPr sz="1200">
                <a:solidFill>
                  <a:srgbClr val="687369"/>
                </a:solidFill>
              </a:rPr>
              <a:t>Revisar evidencias de lectura, participación, ausentismo y barreras de acceso.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DBAA2B-CB4F-42E4-AA2E-A66256558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146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C7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C09D64-FFD1-45FE-B00E-CE405AA9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908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E5FBC3-4678-40ED-A383-6627EE8EA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95625"/>
            <a:ext cx="840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02821"/>
                </a:solidFill>
              </a:defRPr>
            </a:pPr>
            <a:r>
              <a:rPr sz="1800" b="1">
                <a:solidFill>
                  <a:srgbClr val="202821"/>
                </a:solidFill>
              </a:rPr>
              <a:t>Enseñar estrategias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9E7559-92DE-406D-885B-93F57FB7A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00425"/>
            <a:ext cx="8401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87369"/>
                </a:solidFill>
              </a:defRPr>
            </a:pPr>
            <a:r>
              <a:rPr sz="1200">
                <a:solidFill>
                  <a:srgbClr val="687369"/>
                </a:solidFill>
              </a:rPr>
              <a:t>Modelar lectura inferencial: pregunta, evidencia textual y justificación.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DC6A61-0CED-452B-B59C-4FA871C91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957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C7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1D20CC-B7E1-4F74-A4B2-C1765013D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719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5D3E95-37B3-485D-B367-B404D14D3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876675"/>
            <a:ext cx="840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02821"/>
                </a:solidFill>
              </a:defRPr>
            </a:pPr>
            <a:r>
              <a:rPr sz="1800" b="1">
                <a:solidFill>
                  <a:srgbClr val="202821"/>
                </a:solidFill>
              </a:rPr>
              <a:t>Cuidar convivencia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D5D918-0C15-4B10-BB47-EAA05642F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81475"/>
            <a:ext cx="8401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87369"/>
                </a:solidFill>
              </a:defRPr>
            </a:pPr>
            <a:r>
              <a:rPr sz="1200">
                <a:solidFill>
                  <a:srgbClr val="687369"/>
                </a:solidFill>
              </a:rPr>
              <a:t>Acuerdos de aula, roles cooperativos y participación regulada.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D309E3-858F-4C1C-9C01-A7A940CD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767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C7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FD5460-F078-45DB-B95B-669148729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529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DAE254-4272-4EBF-92DD-278AC83A7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657725"/>
            <a:ext cx="840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02821"/>
                </a:solidFill>
              </a:defRPr>
            </a:pPr>
            <a:r>
              <a:rPr sz="1800" b="1">
                <a:solidFill>
                  <a:srgbClr val="202821"/>
                </a:solidFill>
              </a:rPr>
              <a:t>Evaluar y ajustar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725038-F56F-4D96-96F9-AE5231362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62525"/>
            <a:ext cx="8401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87369"/>
                </a:solidFill>
              </a:defRPr>
            </a:pPr>
            <a:r>
              <a:rPr sz="1200">
                <a:solidFill>
                  <a:srgbClr val="687369"/>
                </a:solidFill>
              </a:rPr>
              <a:t>Retroalimentación formativa, oportunidades de mejora y seguimiento institucional.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291CC3-999C-4CEF-9BE6-D9A6BAC47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86500"/>
            <a:ext cx="609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87369"/>
                </a:solidFill>
              </a:defRPr>
            </a:pPr>
            <a:r>
              <a:rPr sz="750">
                <a:solidFill>
                  <a:srgbClr val="687369"/>
                </a:solidFill>
              </a:rPr>
              <a:t>Fuente: documento entregado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AEEB04-40EB-405A-92F7-43AEDD15D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2865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87369"/>
                </a:solidFill>
              </a:defRPr>
            </a:pPr>
            <a:r>
              <a:rPr sz="750">
                <a:solidFill>
                  <a:srgbClr val="687369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944781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D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7AAF6A-515C-456C-9CD6-B3301AAC2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000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02821"/>
                </a:solidFill>
              </a:defRPr>
            </a:pPr>
            <a:r>
              <a:rPr sz="900" b="1">
                <a:solidFill>
                  <a:srgbClr val="202821"/>
                </a:solidFill>
              </a:rPr>
              <a:t>GOLGOTHA ACADEMY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48C0AF-4F20-4B39-9FEA-C044AA962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7048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C7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2E24CB-FE17-45FE-9537-2D5BC5DBF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19150"/>
            <a:ext cx="781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2821"/>
                </a:solidFill>
              </a:defRPr>
            </a:pPr>
            <a:r>
              <a:rPr sz="3150" b="1">
                <a:solidFill>
                  <a:srgbClr val="202821"/>
                </a:solidFill>
              </a:rPr>
              <a:t>Cinco docentes, cinco aportes sin repetir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536692-8FF8-4A48-B11F-00236E48B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66850"/>
            <a:ext cx="647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87369"/>
                </a:solidFill>
              </a:defRPr>
            </a:pPr>
            <a:r>
              <a:rPr sz="1575">
                <a:solidFill>
                  <a:srgbClr val="687369"/>
                </a:solidFill>
              </a:rPr>
              <a:t>Cada intervención puede sumar una capa distinta de la solución.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F5758F-36FB-40BF-8054-9DC92522A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32004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86D4A2-3C2A-4819-B0E7-6EA95D5F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479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C7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56EB97-07D2-4CA1-8231-301F0A32E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95600"/>
            <a:ext cx="2705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02821"/>
                </a:solidFill>
              </a:defRPr>
            </a:pPr>
            <a:r>
              <a:rPr sz="1725" b="1">
                <a:solidFill>
                  <a:srgbClr val="202821"/>
                </a:solidFill>
              </a:rPr>
              <a:t>Docente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FD14CB-50B3-4808-AEE7-FD89A8D6F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3375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87369"/>
                </a:solidFill>
              </a:defRPr>
            </a:pPr>
            <a:r>
              <a:rPr sz="1125">
                <a:solidFill>
                  <a:srgbClr val="687369"/>
                </a:solidFill>
              </a:rPr>
              <a:t>Lectura del problema y barreras.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AA9A0B-F6CF-49B5-9834-CF8BAE61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81250"/>
            <a:ext cx="32004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B31098-0F04-41C6-8593-E11D04DFB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479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C7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DAA93D-D759-4763-85DD-1B376F56E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95600"/>
            <a:ext cx="2705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02821"/>
                </a:solidFill>
              </a:defRPr>
            </a:pPr>
            <a:r>
              <a:rPr sz="1725" b="1">
                <a:solidFill>
                  <a:srgbClr val="202821"/>
                </a:solidFill>
              </a:rPr>
              <a:t>Docente 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0735A6-8653-4EA4-AA47-919EBDC3E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3375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87369"/>
                </a:solidFill>
              </a:defRPr>
            </a:pPr>
            <a:r>
              <a:rPr sz="1125">
                <a:solidFill>
                  <a:srgbClr val="687369"/>
                </a:solidFill>
              </a:rPr>
              <a:t>Estrategias de lectura crítica.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E40AD5-4112-48A5-8346-CDE7715E9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381250"/>
            <a:ext cx="32004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AFC150-ECBB-49FA-8937-69271671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6479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C7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240D34-2F0E-4BC5-948E-B3100D318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95600"/>
            <a:ext cx="2705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02821"/>
                </a:solidFill>
              </a:defRPr>
            </a:pPr>
            <a:r>
              <a:rPr sz="1725" b="1">
                <a:solidFill>
                  <a:srgbClr val="202821"/>
                </a:solidFill>
              </a:rPr>
              <a:t>Docente 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EA3BB9-C9C2-43D2-B001-42F555D2D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3375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87369"/>
                </a:solidFill>
              </a:defRPr>
            </a:pPr>
            <a:r>
              <a:rPr sz="1125">
                <a:solidFill>
                  <a:srgbClr val="687369"/>
                </a:solidFill>
              </a:rPr>
              <a:t>Convivencia y trabajo cooperativo.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6B8931-0FD3-442D-A482-DDC468736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32004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5F8739-7A44-4338-A764-7421B3B73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719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C7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299328-5B23-4D44-BFC2-B9F43A2A1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19600"/>
            <a:ext cx="2705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02821"/>
                </a:solidFill>
              </a:defRPr>
            </a:pPr>
            <a:r>
              <a:rPr sz="1725" b="1">
                <a:solidFill>
                  <a:srgbClr val="202821"/>
                </a:solidFill>
              </a:rPr>
              <a:t>Docente 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D660B7-E284-44F7-8D6C-147A54361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5775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87369"/>
                </a:solidFill>
              </a:defRPr>
            </a:pPr>
            <a:r>
              <a:rPr sz="1125">
                <a:solidFill>
                  <a:srgbClr val="687369"/>
                </a:solidFill>
              </a:rPr>
              <a:t>Inclusión, atención y ausentismo.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B4B989-E122-4994-8B3C-171890C5C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905250"/>
            <a:ext cx="32004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D25D66-650A-45A7-9332-9DC5CFB6D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719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C7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41BB86-70D3-43A8-A6DD-88E4AB733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419600"/>
            <a:ext cx="2705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02821"/>
                </a:solidFill>
              </a:defRPr>
            </a:pPr>
            <a:r>
              <a:rPr sz="1725" b="1">
                <a:solidFill>
                  <a:srgbClr val="202821"/>
                </a:solidFill>
              </a:rPr>
              <a:t>Docente 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91555F-A447-4731-BE54-003087041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85775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87369"/>
                </a:solidFill>
              </a:defRPr>
            </a:pPr>
            <a:r>
              <a:rPr sz="1125">
                <a:solidFill>
                  <a:srgbClr val="687369"/>
                </a:solidFill>
              </a:rPr>
              <a:t>Evaluación, familias y seguimiento.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8B61EC-D08D-457B-A551-6278CCB7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86500"/>
            <a:ext cx="609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87369"/>
                </a:solidFill>
              </a:defRPr>
            </a:pPr>
            <a:r>
              <a:rPr sz="750">
                <a:solidFill>
                  <a:srgbClr val="687369"/>
                </a:solidFill>
              </a:rPr>
              <a:t>Fuente: documento entregado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346C1F-4758-463F-B07D-CB5FCCA05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2865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87369"/>
                </a:solidFill>
              </a:defRPr>
            </a:pPr>
            <a:r>
              <a:rPr sz="750">
                <a:solidFill>
                  <a:srgbClr val="687369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781247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D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C4D338-932A-4D28-B2BF-A50EE148A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000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02821"/>
                </a:solidFill>
              </a:defRPr>
            </a:pPr>
            <a:r>
              <a:rPr sz="900" b="1">
                <a:solidFill>
                  <a:srgbClr val="202821"/>
                </a:solidFill>
              </a:rPr>
              <a:t>GOLGOTHA ACADEMY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9FC38D-5550-48BE-9F14-830D026E0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7048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C7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306402-9F06-4C2D-A162-4E13657EF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38200"/>
            <a:ext cx="809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202821"/>
                </a:solidFill>
              </a:defRPr>
            </a:pPr>
            <a:r>
              <a:rPr sz="2925" b="1">
                <a:solidFill>
                  <a:srgbClr val="202821"/>
                </a:solidFill>
              </a:rPr>
              <a:t>Preguntas difíciles: responde con marco institucional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69872D-727A-48CC-B962-34B572297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742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87369"/>
                </a:solidFill>
              </a:defRPr>
            </a:pPr>
            <a:r>
              <a:rPr sz="1575">
                <a:solidFill>
                  <a:srgbClr val="687369"/>
                </a:solidFill>
              </a:rPr>
              <a:t>La defensa más sólida conecta decisión pedagógica, evidencia y norma interna.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78816F-6BA9-447A-96C5-C996505DD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3190875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5EBC48-D3DF-414A-8363-E43C6CF61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479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C7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14D74B-575E-4FD4-A5DD-A42B03224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95600"/>
            <a:ext cx="2695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02821"/>
                </a:solidFill>
              </a:defRPr>
            </a:pPr>
            <a:r>
              <a:rPr sz="1725" b="1">
                <a:solidFill>
                  <a:srgbClr val="202821"/>
                </a:solidFill>
              </a:rPr>
              <a:t>Si preguntan por evaluación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0B12EE-0A07-4825-8AEA-0DCC58CD3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33750"/>
            <a:ext cx="26955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87369"/>
                </a:solidFill>
              </a:defRPr>
            </a:pPr>
            <a:r>
              <a:rPr sz="1125">
                <a:solidFill>
                  <a:srgbClr val="687369"/>
                </a:solidFill>
              </a:rPr>
              <a:t>Responder desde el SIEE: evaluación formativa, retroalimentación y oportunidades de mejora.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2C0A28-B4DB-4991-870F-BE9D50B28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381250"/>
            <a:ext cx="3190875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5DCB36-205F-4934-9E19-49391FAC8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6479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C7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D6263A-C6CA-4879-AB77-6DB87824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895600"/>
            <a:ext cx="2695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02821"/>
                </a:solidFill>
              </a:defRPr>
            </a:pPr>
            <a:r>
              <a:rPr sz="1725" b="1">
                <a:solidFill>
                  <a:srgbClr val="202821"/>
                </a:solidFill>
              </a:rPr>
              <a:t>Si preguntan por disciplina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A15CEB-95BA-40F4-8889-FF7C2F35A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333750"/>
            <a:ext cx="26955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87369"/>
                </a:solidFill>
              </a:defRPr>
            </a:pPr>
            <a:r>
              <a:rPr sz="1125">
                <a:solidFill>
                  <a:srgbClr val="687369"/>
                </a:solidFill>
              </a:rPr>
              <a:t>Usar acuerdos de aula y rutas del manual, sin reducir el caso a castigo.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CA248A-BC1E-413B-8572-586DFA002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81250"/>
            <a:ext cx="3190875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FE7D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C8AEDF-EB5C-4D57-8C5B-A19FA7E5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4795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C7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AC61E9-906F-491F-A40A-51C6B8EF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95600"/>
            <a:ext cx="2695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02821"/>
                </a:solidFill>
              </a:defRPr>
            </a:pPr>
            <a:r>
              <a:rPr sz="1725" b="1">
                <a:solidFill>
                  <a:srgbClr val="202821"/>
                </a:solidFill>
              </a:rPr>
              <a:t>Si preguntan por familias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EEEE98-797C-482C-A202-1849301BF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333750"/>
            <a:ext cx="26955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87369"/>
                </a:solidFill>
              </a:defRPr>
            </a:pPr>
            <a:r>
              <a:rPr sz="1125">
                <a:solidFill>
                  <a:srgbClr val="687369"/>
                </a:solidFill>
              </a:rPr>
              <a:t>Proponer comunicación viable y apoyos realistas, no trasladarles toda la responsabilidad.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CFAB3A-EA08-4BBF-90F7-F51F73CAC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86500"/>
            <a:ext cx="609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87369"/>
                </a:solidFill>
              </a:defRPr>
            </a:pPr>
            <a:r>
              <a:rPr sz="750">
                <a:solidFill>
                  <a:srgbClr val="687369"/>
                </a:solidFill>
              </a:rPr>
              <a:t>Fuente: documento entregado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63E40A-D401-4D9B-A86A-4B28776F8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2865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87369"/>
                </a:solidFill>
              </a:defRPr>
            </a:pPr>
            <a:r>
              <a:rPr sz="750">
                <a:solidFill>
                  <a:srgbClr val="687369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537696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823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CD49D4-A51E-4E0D-B209-24CCB4E6A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000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GOLGOTHA ACADEMY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9FC47D-9D0F-4530-8114-5E961B46F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7048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CFD585-D915-48C8-93B6-4A592BBE1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7F5DE"/>
                </a:solidFill>
              </a:defRPr>
            </a:pPr>
            <a:r>
              <a:rPr sz="975" b="1">
                <a:solidFill>
                  <a:srgbClr val="D7F5DE"/>
                </a:solidFill>
              </a:rPr>
              <a:t>CIERRE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E1A1EC-1510-4F99-8FFC-FE7F0EBB2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7810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La mejor respuesta integra aprendizaje, convivencia e inclusión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2C9537-9F01-4C93-BEB1-2C801C3EA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914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9EAF77-8F25-48FB-9278-23B603E9F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0"/>
            <a:ext cx="7048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DCEFE0"/>
                </a:solidFill>
              </a:defRPr>
            </a:pPr>
            <a:r>
              <a:rPr sz="1800">
                <a:solidFill>
                  <a:srgbClr val="DCEFE0"/>
                </a:solidFill>
              </a:rPr>
              <a:t>Postura final: intervenir con evidencia, distribuir responsabilidades, acompañar a los estudiantes y medir avances sin endurecer la evaluación como única salida.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5F6EB2-0715-46D8-A745-5089CC8C8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86500"/>
            <a:ext cx="609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87369"/>
                </a:solidFill>
              </a:defRPr>
            </a:pPr>
            <a:r>
              <a:rPr sz="750">
                <a:solidFill>
                  <a:srgbClr val="687369"/>
                </a:solidFill>
              </a:rPr>
              <a:t>Cierre propuesto para la simulación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71E02F-16F5-4755-960A-B866B2177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2865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687369"/>
                </a:solidFill>
              </a:defRPr>
            </a:pPr>
            <a:r>
              <a:rPr sz="750">
                <a:solidFill>
                  <a:srgbClr val="687369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281118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2026-06-23T22:28:34.4250000Z</dcterms:created>
  <dcterms:modified xsi:type="dcterms:W3CDTF">2026-06-23T22:28:34.4260000Z</dcterms:modified>
</coreProperties>
</file>