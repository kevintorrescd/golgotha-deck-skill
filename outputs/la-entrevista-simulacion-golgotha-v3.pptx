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812f0ad82648a5" /><Relationship Type="http://schemas.openxmlformats.org/officeDocument/2006/relationships/extended-properties" Target="/docProps/app.xml" Id="Rc3bab6ff20274a90" /><Relationship Type="http://schemas.openxmlformats.org/officeDocument/2006/relationships/officeDocument" Target="/ppt/presentation.xml" Id="R0c190a97252c4f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c2dab9091f48a4"/>
  </p:sldMasterIdLst>
  <p:notesMasterIdLst>
    <p:notesMasterId xmlns:r="http://schemas.openxmlformats.org/officeDocument/2006/relationships" r:id="Rc8bc1a6ff1b347d8"/>
  </p:notesMasterIdLst>
  <p:sldIdLst>
    <p:sldId xmlns:r="http://schemas.openxmlformats.org/officeDocument/2006/relationships" id="256" r:id="Rb49e0991f7ec4441"/>
    <p:sldId xmlns:r="http://schemas.openxmlformats.org/officeDocument/2006/relationships" id="257" r:id="Rbeaff8ae671549dd"/>
    <p:sldId xmlns:r="http://schemas.openxmlformats.org/officeDocument/2006/relationships" id="258" r:id="Rd545d6394e6f4f2a"/>
    <p:sldId xmlns:r="http://schemas.openxmlformats.org/officeDocument/2006/relationships" id="259" r:id="Rc1e09f17e7d54b5a"/>
    <p:sldId xmlns:r="http://schemas.openxmlformats.org/officeDocument/2006/relationships" id="260" r:id="R3d9b0378e8b24ca2"/>
    <p:sldId xmlns:r="http://schemas.openxmlformats.org/officeDocument/2006/relationships" id="261" r:id="R504c7cd0e6404f22"/>
    <p:sldId xmlns:r="http://schemas.openxmlformats.org/officeDocument/2006/relationships" id="262" r:id="R565c9bf86bfe48be"/>
    <p:sldId xmlns:r="http://schemas.openxmlformats.org/officeDocument/2006/relationships" id="263" r:id="R9b4e81df7ac54b2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16351dbdba4f1d" /><Relationship Type="http://schemas.openxmlformats.org/officeDocument/2006/relationships/slideMaster" Target="/ppt/slideMasters/slideMaster1.xml" Id="R78c2dab9091f48a4" /><Relationship Type="http://schemas.openxmlformats.org/officeDocument/2006/relationships/notesMaster" Target="/ppt/notesMasters/notesMaster1.xml" Id="Rc8bc1a6ff1b347d8" /><Relationship Type="http://schemas.openxmlformats.org/officeDocument/2006/relationships/presProps" Target="/ppt/presProps.xml" Id="Rbef38058478d40a4" /><Relationship Type="http://schemas.openxmlformats.org/officeDocument/2006/relationships/tableStyles" Target="/ppt/tableStyles.xml" Id="Rd42050ace09c43c7" /><Relationship Type="http://schemas.openxmlformats.org/officeDocument/2006/relationships/slide" Target="/ppt/slides/slide1.xml" Id="Rb49e0991f7ec4441" /><Relationship Type="http://schemas.openxmlformats.org/officeDocument/2006/relationships/slide" Target="/ppt/slides/slide2.xml" Id="Rbeaff8ae671549dd" /><Relationship Type="http://schemas.openxmlformats.org/officeDocument/2006/relationships/slide" Target="/ppt/slides/slide3.xml" Id="Rd545d6394e6f4f2a" /><Relationship Type="http://schemas.openxmlformats.org/officeDocument/2006/relationships/slide" Target="/ppt/slides/slide4.xml" Id="Rc1e09f17e7d54b5a" /><Relationship Type="http://schemas.openxmlformats.org/officeDocument/2006/relationships/slide" Target="/ppt/slides/slide5.xml" Id="R3d9b0378e8b24ca2" /><Relationship Type="http://schemas.openxmlformats.org/officeDocument/2006/relationships/slide" Target="/ppt/slides/slide6.xml" Id="R504c7cd0e6404f22" /><Relationship Type="http://schemas.openxmlformats.org/officeDocument/2006/relationships/slide" Target="/ppt/slides/slide7.xml" Id="R565c9bf86bfe48be" /><Relationship Type="http://schemas.openxmlformats.org/officeDocument/2006/relationships/slide" Target="/ppt/slides/slide8.xml" Id="R9b4e81df7ac54b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37526a035e46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7feacff5b448cc" /><Relationship Type="http://schemas.openxmlformats.org/officeDocument/2006/relationships/notesMaster" Target="/ppt/notesMasters/notesMaster1.xml" Id="R2b2972555fb748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f26fded1564d75" /><Relationship Type="http://schemas.openxmlformats.org/officeDocument/2006/relationships/notesMaster" Target="/ppt/notesMasters/notesMaster1.xml" Id="R11e4913d1ca74e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a7782c8ce6473f" /><Relationship Type="http://schemas.openxmlformats.org/officeDocument/2006/relationships/notesMaster" Target="/ppt/notesMasters/notesMaster1.xml" Id="Re1a8fe5bb0194c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e40d7d2fa64f24" /><Relationship Type="http://schemas.openxmlformats.org/officeDocument/2006/relationships/notesMaster" Target="/ppt/notesMasters/notesMaster1.xml" Id="Rdb30ea36e74e42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fa5ab3b58949c6" /><Relationship Type="http://schemas.openxmlformats.org/officeDocument/2006/relationships/notesMaster" Target="/ppt/notesMasters/notesMaster1.xml" Id="Re9cfd0a003214b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2996464b1544be" /><Relationship Type="http://schemas.openxmlformats.org/officeDocument/2006/relationships/notesMaster" Target="/ppt/notesMasters/notesMaster1.xml" Id="R25b076f3f26e45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f2f107454f4071" /><Relationship Type="http://schemas.openxmlformats.org/officeDocument/2006/relationships/notesMaster" Target="/ppt/notesMasters/notesMaster1.xml" Id="R33a025d24cfa4e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4e97b33f184041" /><Relationship Type="http://schemas.openxmlformats.org/officeDocument/2006/relationships/notesMaster" Target="/ppt/notesMasters/notesMaster1.xml" Id="R3d1a128cc6bd4d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afaab2aeef4c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6dd38f603a43bb" /><Relationship Type="http://schemas.openxmlformats.org/officeDocument/2006/relationships/slideLayout" Target="/ppt/slideLayouts/slideLayout1.xml" Id="Rf516b7a5a52346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16b7a5a52346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ed341bf9e407d" /><Relationship Type="http://schemas.openxmlformats.org/officeDocument/2006/relationships/image" Target="/ppt/media/image.png" Id="Rdc92fe61b7334470" /><Relationship Type="http://schemas.openxmlformats.org/officeDocument/2006/relationships/image" Target="/ppt/media/image.svg" Id="R939a6b9e240041a1" /><Relationship Type="http://schemas.openxmlformats.org/officeDocument/2006/relationships/image" Target="/ppt/media/image2.png" Id="Rf6fbef3754a841d9" /><Relationship Type="http://schemas.openxmlformats.org/officeDocument/2006/relationships/image" Target="/ppt/media/image2.svg" Id="R43f37e17ef694448" /><Relationship Type="http://schemas.openxmlformats.org/officeDocument/2006/relationships/notesSlide" Target="/ppt/notesSlides/notesSlide1.xml" Id="Rc57e5a8c288841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17c6b8ff04d8f" /><Relationship Type="http://schemas.openxmlformats.org/officeDocument/2006/relationships/image" Target="/ppt/media/image3.png" Id="Rfb4509c4e9a9457d" /><Relationship Type="http://schemas.openxmlformats.org/officeDocument/2006/relationships/image" Target="/ppt/media/image3.svg" Id="Re682ba511bb5468d" /><Relationship Type="http://schemas.openxmlformats.org/officeDocument/2006/relationships/image" Target="/ppt/media/image4.png" Id="Rad7b38434f294f1b" /><Relationship Type="http://schemas.openxmlformats.org/officeDocument/2006/relationships/image" Target="/ppt/media/image4.svg" Id="Ra8a4349632ca402b" /><Relationship Type="http://schemas.openxmlformats.org/officeDocument/2006/relationships/notesSlide" Target="/ppt/notesSlides/notesSlide2.xml" Id="Ra3c25f28bb294d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d714dc850b4a50" /><Relationship Type="http://schemas.openxmlformats.org/officeDocument/2006/relationships/image" Target="/ppt/media/image5.png" Id="Re2974e42b2404ee0" /><Relationship Type="http://schemas.openxmlformats.org/officeDocument/2006/relationships/image" Target="/ppt/media/image5.svg" Id="R3fdc88bd150946be" /><Relationship Type="http://schemas.openxmlformats.org/officeDocument/2006/relationships/image" Target="/ppt/media/image6.png" Id="Rbf96cd415cec4bb2" /><Relationship Type="http://schemas.openxmlformats.org/officeDocument/2006/relationships/image" Target="/ppt/media/image6.svg" Id="R04665feb11c34bc9" /><Relationship Type="http://schemas.openxmlformats.org/officeDocument/2006/relationships/notesSlide" Target="/ppt/notesSlides/notesSlide3.xml" Id="R40d116b4ccb849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17afb2dab4860" /><Relationship Type="http://schemas.openxmlformats.org/officeDocument/2006/relationships/image" Target="/ppt/media/image7.png" Id="R12c735f8468544c4" /><Relationship Type="http://schemas.openxmlformats.org/officeDocument/2006/relationships/image" Target="/ppt/media/image7.svg" Id="R92bbf748288f43cd" /><Relationship Type="http://schemas.openxmlformats.org/officeDocument/2006/relationships/notesSlide" Target="/ppt/notesSlides/notesSlide4.xml" Id="Rb7879797f44f43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ca3af0821483d" /><Relationship Type="http://schemas.openxmlformats.org/officeDocument/2006/relationships/image" Target="/ppt/media/image8.png" Id="Rfc1001afd7e6450d" /><Relationship Type="http://schemas.openxmlformats.org/officeDocument/2006/relationships/image" Target="/ppt/media/image8.svg" Id="R5daaae4107df4632" /><Relationship Type="http://schemas.openxmlformats.org/officeDocument/2006/relationships/image" Target="/ppt/media/image9.png" Id="R70fee7c4621d4029" /><Relationship Type="http://schemas.openxmlformats.org/officeDocument/2006/relationships/image" Target="/ppt/media/image9.svg" Id="R49bf603e5f704823" /><Relationship Type="http://schemas.openxmlformats.org/officeDocument/2006/relationships/notesSlide" Target="/ppt/notesSlides/notesSlide5.xml" Id="Ra886e6d7ba534c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e160a11c94a98" /><Relationship Type="http://schemas.openxmlformats.org/officeDocument/2006/relationships/image" Target="/ppt/media/image10.png" Id="Rba0c8d172afd4277" /><Relationship Type="http://schemas.openxmlformats.org/officeDocument/2006/relationships/image" Target="/ppt/media/image10.svg" Id="R163dd231f63c4830" /><Relationship Type="http://schemas.openxmlformats.org/officeDocument/2006/relationships/image" Target="/ppt/media/image11.png" Id="R89da1b4a4ce149d5" /><Relationship Type="http://schemas.openxmlformats.org/officeDocument/2006/relationships/image" Target="/ppt/media/image11.svg" Id="R040976852fbe48c0" /><Relationship Type="http://schemas.openxmlformats.org/officeDocument/2006/relationships/notesSlide" Target="/ppt/notesSlides/notesSlide6.xml" Id="R49debdef5b334f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5262add70428d" /><Relationship Type="http://schemas.openxmlformats.org/officeDocument/2006/relationships/image" Target="/ppt/media/image12.png" Id="R1b4dfafa62064661" /><Relationship Type="http://schemas.openxmlformats.org/officeDocument/2006/relationships/image" Target="/ppt/media/image12.svg" Id="Rf429f41af79d47c3" /><Relationship Type="http://schemas.openxmlformats.org/officeDocument/2006/relationships/notesSlide" Target="/ppt/notesSlides/notesSlide7.xml" Id="Rfce5a2c58d8f4c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a7fc11a7f4176" /><Relationship Type="http://schemas.openxmlformats.org/officeDocument/2006/relationships/image" Target="/ppt/media/image13.png" Id="R632b25deb8464316" /><Relationship Type="http://schemas.openxmlformats.org/officeDocument/2006/relationships/image" Target="/ppt/media/image13.svg" Id="R2b6a737225d24b6d" /><Relationship Type="http://schemas.openxmlformats.org/officeDocument/2006/relationships/image" Target="/ppt/media/image14.png" Id="R46eeb666d279422b" /><Relationship Type="http://schemas.openxmlformats.org/officeDocument/2006/relationships/image" Target="/ppt/media/image14.svg" Id="R85504e17aaec43d5" /><Relationship Type="http://schemas.openxmlformats.org/officeDocument/2006/relationships/notesSlide" Target="/ppt/notesSlides/notesSlide8.xml" Id="R6e9f27b8e35243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96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92fe61b7334470">
            <a:extLst>
              <a:ext uri="{96DAC541-7B7A-43D3-8B79-37D633B846F1}">
                <asvg:svgBlip xmlns:asvg="http://schemas.microsoft.com/office/drawing/2016/SVG/main" r:embed="R939a6b9e240041a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fbef3754a841d9">
            <a:extLst>
              <a:ext uri="{96DAC541-7B7A-43D3-8B79-37D633B846F1}">
                <asvg:svgBlip xmlns:asvg="http://schemas.microsoft.com/office/drawing/2016/SVG/main" r:embed="R43f37e17ef69444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914900" y="1352550"/>
            <a:ext cx="2362200" cy="4191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523BD-CAFA-410E-BA26-DDF08509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2890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>
                    <a:alpha val="82000"/>
                  </a:srgbClr>
                </a:solidFill>
              </a:defRPr>
            </a:pPr>
            <a:r>
              <a:rPr sz="1500" b="1">
                <a:solidFill>
                  <a:srgbClr val="FFFFFF">
                    <a:alpha val="82000"/>
                  </a:srgbClr>
                </a:solidFill>
              </a:rPr>
              <a:t>SIMULACIÓN DE ENTREVISTA GRUPAL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D8CD6-292C-4324-A58E-7F70ED73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57550"/>
            <a:ext cx="8191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Responder como equipo docente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7D2D6-C64E-41D1-8705-E27EA1B2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800600"/>
            <a:ext cx="670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FFFFF">
                    <a:alpha val="88000"/>
                  </a:srgbClr>
                </a:solidFill>
              </a:defRPr>
            </a:pPr>
            <a:r>
              <a:rPr sz="1875" b="0">
                <a:solidFill>
                  <a:srgbClr val="FFFFFF">
                    <a:alpha val="88000"/>
                  </a:srgbClr>
                </a:solidFill>
              </a:rPr>
              <a:t>Lectura crítica, convivencia, inclusión y seguimiento institucional.</a:t>
            </a:r>
          </a:p>
        </p:txBody>
      </p:sp>
    </p:spTree>
    <p:extLst>
      <p:ext uri="{BB962C8B-B14F-4D97-AF65-F5344CB8AC3E}">
        <p14:creationId xmlns:p14="http://schemas.microsoft.com/office/powerpoint/2010/main" val="13988305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4509c4e9a9457d">
            <a:extLst>
              <a:ext uri="{96DAC541-7B7A-43D3-8B79-37D633B846F1}">
                <asvg:svgBlip xmlns:asvg="http://schemas.microsoft.com/office/drawing/2016/SVG/main" r:embed="Re682ba511bb5468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7b38434f294f1b">
            <a:extLst>
              <a:ext uri="{96DAC541-7B7A-43D3-8B79-37D633B846F1}">
                <asvg:svgBlip xmlns:asvg="http://schemas.microsoft.com/office/drawing/2016/SVG/main" r:embed="Ra8a4349632ca402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514350"/>
            <a:ext cx="2076450" cy="3238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B8B5E-2A86-4C14-B60C-2CE1F71E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59669"/>
                </a:solidFill>
              </a:defRPr>
            </a:pPr>
            <a:r>
              <a:rPr sz="1125" b="1">
                <a:solidFill>
                  <a:srgbClr val="059669"/>
                </a:solidFill>
              </a:rPr>
              <a:t>CONTEXTO DE LA PRUEBA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3C96B-7C22-42CD-88FA-6E309560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5810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</a:defRPr>
            </a:pPr>
            <a:r>
              <a:rPr sz="3450" b="1">
                <a:solidFill>
                  <a:srgbClr val="111111"/>
                </a:solidFill>
              </a:rPr>
              <a:t>El evaluador observa cómo participa el equipo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26AB1-40C3-40C1-B326-A309BA93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5467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La respuesta no se mide solo por lo que se dice, sino por escucha, turnos, fundamento pedagógico, seguimiento e integración institucional.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242C8D-C26C-466A-A1EA-D99BD677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447800"/>
            <a:ext cx="373380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0C69CA-0D5B-48F3-8C53-3F250B7D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6002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Lectura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5B0111-8082-47AF-B3FB-AE0549CF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0020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059669"/>
                </a:solidFill>
              </a:defRPr>
            </a:pPr>
            <a:r>
              <a:rPr sz="1725" b="1">
                <a:solidFill>
                  <a:srgbClr val="059669"/>
                </a:solidFill>
              </a:rPr>
              <a:t>3-5 min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333083-EB33-4262-91EF-891CB745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38400"/>
            <a:ext cx="373380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1E7F25-32D0-4B0B-8CD5-4E80B092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908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Discusión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A62C6-1130-405B-A500-22D86168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9080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059669"/>
                </a:solidFill>
              </a:defRPr>
            </a:pPr>
            <a:r>
              <a:rPr sz="1725" b="1">
                <a:solidFill>
                  <a:srgbClr val="059669"/>
                </a:solidFill>
              </a:rPr>
              <a:t>5-7 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ED6831-30E6-417A-BFD7-79BC1B3C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29000"/>
            <a:ext cx="373380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8AF884-0458-4DBD-93B4-9EEAD731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581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Exposición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B5C5B1-A988-4630-A92A-E95197C2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58140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059669"/>
                </a:solidFill>
              </a:defRPr>
            </a:pPr>
            <a:r>
              <a:rPr sz="1725" b="1">
                <a:solidFill>
                  <a:srgbClr val="059669"/>
                </a:solidFill>
              </a:rPr>
              <a:t>2-3 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A38A55-EEAF-4F03-8367-3B7A34F7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19600"/>
            <a:ext cx="3733800" cy="72390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BA0925-DF49-4AF4-8905-AC59AB59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5720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Preguntas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EC0F86-2B97-4C8F-AEC1-89C8AC02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572000"/>
            <a:ext cx="110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059669"/>
                </a:solidFill>
              </a:defRPr>
            </a:pPr>
            <a:r>
              <a:rPr sz="1725" b="1">
                <a:solidFill>
                  <a:srgbClr val="059669"/>
                </a:solidFill>
              </a:rPr>
              <a:t>5-10 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E99CF7-C679-4CC5-9E73-84C4119C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05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Fuente: documento entregado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79E1C1-B516-4F72-9E3F-4798B0D3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84837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974e42b2404ee0">
            <a:extLst>
              <a:ext uri="{96DAC541-7B7A-43D3-8B79-37D633B846F1}">
                <asvg:svgBlip xmlns:asvg="http://schemas.microsoft.com/office/drawing/2016/SVG/main" r:embed="R3fdc88bd150946b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96cd415cec4bb2">
            <a:extLst>
              <a:ext uri="{96DAC541-7B7A-43D3-8B79-37D633B846F1}">
                <asvg:svgBlip xmlns:asvg="http://schemas.microsoft.com/office/drawing/2016/SVG/main" r:embed="R04665feb11c34bc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514350"/>
            <a:ext cx="2076450" cy="3238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986EEF-A8F3-408C-95AA-2D263152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F2C1"/>
                </a:solidFill>
              </a:defRPr>
            </a:pPr>
            <a:r>
              <a:rPr sz="1125" b="1">
                <a:solidFill>
                  <a:srgbClr val="8FF2C1"/>
                </a:solidFill>
              </a:rPr>
              <a:t>CASO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F9023-B6EF-42CC-94B6-178E69C1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66865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El grupo necesita una intervención pedagógica, no solo más talleres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E34B11-5AFD-4D0F-8AE4-88BFD7E0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8D0D8"/>
                </a:solidFill>
              </a:defRPr>
            </a:pPr>
            <a:r>
              <a:rPr sz="1800" b="0">
                <a:solidFill>
                  <a:srgbClr val="C8D0D8"/>
                </a:solidFill>
              </a:rPr>
              <a:t>La dificultad central combina comprensión inferencial, baja participación, ausentismo y convivencia.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A21B79-59E2-4CF6-A7F3-57162310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485900"/>
            <a:ext cx="2800350" cy="289560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C59427-1C8D-47EE-84E2-B09D9121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62150"/>
            <a:ext cx="2114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550" b="1">
                <a:solidFill>
                  <a:srgbClr val="00D47E"/>
                </a:solidFill>
              </a:defRPr>
            </a:pPr>
            <a:r>
              <a:rPr sz="5550" b="1">
                <a:solidFill>
                  <a:srgbClr val="00D47E"/>
                </a:solidFill>
              </a:rPr>
              <a:t>62%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36947D-D664-4FC7-BCD2-B97482B2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09900"/>
            <a:ext cx="2152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no logra justificar respuestas con evidencia del texto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2960F8-0501-4BA6-A23A-590616D9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17335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D4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F483D-327B-4ED2-B576-DD633B98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24425"/>
            <a:ext cx="1390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38 estudiantes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B46D6F-EAC8-4539-AAEA-E99FF4CF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857750"/>
            <a:ext cx="2705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99F519-BFCC-472D-ACAD-7808CF7E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24425"/>
            <a:ext cx="236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 con ausentismo recurrente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23D2A2-11D7-46C3-8B16-1D09CA9D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857750"/>
            <a:ext cx="28956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23F5B7-CD94-4BF9-A64D-ECAE47A0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924425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 con dificultades de atención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756929-FBC2-4142-B769-6ED14F30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05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0D8"/>
                </a:solidFill>
              </a:defRPr>
            </a:pPr>
            <a:r>
              <a:rPr sz="1050" b="0">
                <a:solidFill>
                  <a:srgbClr val="C8D0D8"/>
                </a:solidFill>
              </a:rPr>
              <a:t>Fuente: documento entregado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C67DCF-BA6D-4CD5-834B-C855212A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619116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c735f8468544c4">
            <a:extLst>
              <a:ext uri="{96DAC541-7B7A-43D3-8B79-37D633B846F1}">
                <asvg:svgBlip xmlns:asvg="http://schemas.microsoft.com/office/drawing/2016/SVG/main" r:embed="R92bbf748288f43c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514350"/>
            <a:ext cx="20764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26F880-5122-420F-B9B2-7C04A86E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59669"/>
                </a:solidFill>
              </a:defRPr>
            </a:pPr>
            <a:r>
              <a:rPr sz="1125" b="1">
                <a:solidFill>
                  <a:srgbClr val="059669"/>
                </a:solidFill>
              </a:rPr>
              <a:t>DIAGNÓSTICO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AEA8A9-025F-45D6-ABB1-FD10F3E8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7448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11111"/>
                </a:solidFill>
              </a:defRPr>
            </a:pPr>
            <a:r>
              <a:rPr sz="3450" b="1">
                <a:solidFill>
                  <a:srgbClr val="111111"/>
                </a:solidFill>
              </a:rPr>
              <a:t>El caso exige mirar tres capas al mismo tiempo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ED695D-1ABB-4C32-A095-1637CF2A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3219450" cy="179070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0D19E-CBD8-4EAC-89C4-08813FDA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766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Lectura crítica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F0CC5-2169-4E95-A8E1-07120352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291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</a:defRPr>
            </a:pPr>
            <a:r>
              <a:rPr sz="1575" b="0">
                <a:solidFill>
                  <a:srgbClr val="4B5563"/>
                </a:solidFill>
              </a:rPr>
              <a:t>Modelar inferencias: pregunta, evidencia textual y justificación.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65C75A-9C10-4FFC-BBAC-6C4219B8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52800"/>
            <a:ext cx="3219450" cy="179070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1F571-79ED-4394-9057-F3B8EC04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766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Convivencia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27FDCA-F624-4BA9-9B16-5CEF4891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291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</a:defRPr>
            </a:pPr>
            <a:r>
              <a:rPr sz="1575" b="0">
                <a:solidFill>
                  <a:srgbClr val="4B5563"/>
                </a:solidFill>
              </a:rPr>
              <a:t>Regular turnos, acuerdos de aula y roles cooperativos.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9F96D2-EABB-469C-8D1D-B3C1C5C6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52800"/>
            <a:ext cx="3219450" cy="179070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E0C32D-A2B5-44BA-96FC-3F5540FB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766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Inclusión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6FEF04-A7E0-4091-B413-BA1A1523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291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B5563"/>
                </a:solidFill>
              </a:defRPr>
            </a:pPr>
            <a:r>
              <a:rPr sz="1575" b="0">
                <a:solidFill>
                  <a:srgbClr val="4B5563"/>
                </a:solidFill>
              </a:rPr>
              <a:t>Ajustar apoyos para ausentismo, atención y acompañamiento familiar realista.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404518-C438-4C03-B5DD-BBE499EC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05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Fuente: documento entregado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42A9A1-1E14-4C0D-B2EC-BCD8F908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489229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1001afd7e6450d">
            <a:extLst>
              <a:ext uri="{96DAC541-7B7A-43D3-8B79-37D633B846F1}">
                <asvg:svgBlip xmlns:asvg="http://schemas.microsoft.com/office/drawing/2016/SVG/main" r:embed="R5daaae4107df463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fee7c4621d4029">
            <a:extLst>
              <a:ext uri="{96DAC541-7B7A-43D3-8B79-37D633B846F1}">
                <asvg:svgBlip xmlns:asvg="http://schemas.microsoft.com/office/drawing/2016/SVG/main" r:embed="R49bf603e5f70482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514350"/>
            <a:ext cx="2076450" cy="3238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EFE14A-AD72-4AC7-80DF-6711C21C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59669"/>
                </a:solidFill>
              </a:defRPr>
            </a:pPr>
            <a:r>
              <a:rPr sz="1125" b="1">
                <a:solidFill>
                  <a:srgbClr val="059669"/>
                </a:solidFill>
              </a:rPr>
              <a:t>RUTA DE INTERVENCIÓN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BC9321-5DFA-407A-AF5E-A5D5EC93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8191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Una buena respuesta muestra proceso, no una solución aislada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208C2-1BDA-4AB4-A38C-86581A2D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A0A7F6-2004-4855-B328-DF3C295A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811555-5169-4887-8F52-188F9569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480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Diagnosticar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3AF871-9D70-4D93-BEED-AB516A92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099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Revisar evidencias de lectura, participación y barreras de acceso.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22DBF2-78A0-4866-9B35-20C7A5B4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67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4F2629-6375-4008-89F0-4F340262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623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B6FD6F-E76E-4F9E-8ED8-F0634901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480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Enseñar estrategias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B6E83B-2768-42DE-8F9A-963E7C34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099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Practicar inferencias con evidencia textual y retroalimentación.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AFECB3-D063-43DE-9EA8-1E35224B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DE3626-561C-4D4F-A3BE-FA84C6FC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BB6C9B-FDD8-4E0B-A418-D558DBA3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529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Cuidar convivencia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3CAA50-84D1-413C-8BD2-88F26FBC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149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Usar roles, acuerdos y rutas institucionales sin culpar al grupo.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FFDBFF-DA37-4FA2-A136-52204719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72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AEF683-2205-4E0A-A235-B23039F1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672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4762AA-4962-4C48-9F8E-D0ED4554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529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Evaluar y ajustar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52DD1A-8828-4B45-A792-DEFFCC3F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9149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Medir avances, abrir oportunidades de mejora y documentar seguimiento.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8E33D9-1001-472E-9A83-2E7052BD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05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Fuente: documento entregado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915369-C7A6-44CC-93DB-A7E519C3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992237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966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0c8d172afd4277">
            <a:extLst>
              <a:ext uri="{96DAC541-7B7A-43D3-8B79-37D633B846F1}">
                <asvg:svgBlip xmlns:asvg="http://schemas.microsoft.com/office/drawing/2016/SVG/main" r:embed="R163dd231f63c483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da1b4a4ce149d5">
            <a:extLst>
              <a:ext uri="{96DAC541-7B7A-43D3-8B79-37D633B846F1}">
                <asvg:svgBlip xmlns:asvg="http://schemas.microsoft.com/office/drawing/2016/SVG/main" r:embed="R040976852fbe48c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514350"/>
            <a:ext cx="2076450" cy="3238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3E9B46-FC4C-4D1F-892C-DF33C17D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F2C1"/>
                </a:solidFill>
              </a:defRPr>
            </a:pPr>
            <a:r>
              <a:rPr sz="1125" b="1">
                <a:solidFill>
                  <a:srgbClr val="8FF2C1"/>
                </a:solidFill>
              </a:rPr>
              <a:t>EXPOSICIÓN GRUPAL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8C746-B9CB-4FB4-A074-E10D5206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09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Cinco docentes, cinco aportes sin repetir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59FB0F-ED26-41C0-B44C-B1A11F44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3067050" cy="10668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4EBFC3-7594-43B7-ACA6-B926650E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Docente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9C7E3-77D7-4B95-9EF9-B28CE2C8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>
                    <a:alpha val="82000"/>
                  </a:srgbClr>
                </a:solidFill>
              </a:defRPr>
            </a:pPr>
            <a:r>
              <a:rPr sz="1425" b="0">
                <a:solidFill>
                  <a:srgbClr val="FFFFFF">
                    <a:alpha val="82000"/>
                  </a:srgbClr>
                </a:solidFill>
              </a:rPr>
              <a:t>Problema y barreras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76D205-9FCA-44F4-8295-55D6E903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14650"/>
            <a:ext cx="3067050" cy="10668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BC02E3-85E3-4F82-9300-A7C72FE8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43250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Docente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330642-584B-49E7-B752-316C7960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05200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>
                    <a:alpha val="82000"/>
                  </a:srgbClr>
                </a:solidFill>
              </a:defRPr>
            </a:pPr>
            <a:r>
              <a:rPr sz="1425" b="0">
                <a:solidFill>
                  <a:srgbClr val="FFFFFF">
                    <a:alpha val="82000"/>
                  </a:srgbClr>
                </a:solidFill>
              </a:rPr>
              <a:t>Estrategias de lectura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9C9E6C-78EA-437B-8AD7-E7ABF170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14650"/>
            <a:ext cx="3067050" cy="10668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6E5C1E-3FDA-4867-ACB9-E4E8FEEB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Docente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D1F37B-231C-4641-9701-6175AABE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05200"/>
            <a:ext cx="2609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>
                    <a:alpha val="82000"/>
                  </a:srgbClr>
                </a:solidFill>
              </a:defRPr>
            </a:pPr>
            <a:r>
              <a:rPr sz="1425" b="0">
                <a:solidFill>
                  <a:srgbClr val="FFFFFF">
                    <a:alpha val="82000"/>
                  </a:srgbClr>
                </a:solidFill>
              </a:rPr>
              <a:t>Convivencia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9DE306-5AB8-48C5-A1DB-AB044AF7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62450"/>
            <a:ext cx="3790950" cy="10668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7AA775-AB96-466A-BB3E-7D97F0DD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591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Docente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87DEB9-C32B-4AE8-9008-62CD9583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953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>
                    <a:alpha val="82000"/>
                  </a:srgbClr>
                </a:solidFill>
              </a:defRPr>
            </a:pPr>
            <a:r>
              <a:rPr sz="1425" b="0">
                <a:solidFill>
                  <a:srgbClr val="FFFFFF">
                    <a:alpha val="82000"/>
                  </a:srgbClr>
                </a:solidFill>
              </a:rPr>
              <a:t>Inclusión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8559A1-163C-49FC-823E-9235F296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62450"/>
            <a:ext cx="3790950" cy="10668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>
              <a:alpha val="1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E2D3CA-5941-4B60-88F0-B6952C36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91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Docente 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903DB6-F819-47A0-871A-BA007809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53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>
                    <a:alpha val="82000"/>
                  </a:srgbClr>
                </a:solidFill>
              </a:defRPr>
            </a:pPr>
            <a:r>
              <a:rPr sz="1425" b="0">
                <a:solidFill>
                  <a:srgbClr val="FFFFFF">
                    <a:alpha val="82000"/>
                  </a:srgbClr>
                </a:solidFill>
              </a:rPr>
              <a:t>Evaluación y familias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BC792F-ADC4-41B7-A23C-D5A434AF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05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8D0D8"/>
                </a:solidFill>
              </a:defRPr>
            </a:pPr>
            <a:r>
              <a:rPr sz="1050" b="0">
                <a:solidFill>
                  <a:srgbClr val="C8D0D8"/>
                </a:solidFill>
              </a:rPr>
              <a:t>Fuente: documento entregado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E4E52A-C3F9-4B14-B07B-D0C239F6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598844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dfafa62064661">
            <a:extLst>
              <a:ext uri="{96DAC541-7B7A-43D3-8B79-37D633B846F1}">
                <asvg:svgBlip xmlns:asvg="http://schemas.microsoft.com/office/drawing/2016/SVG/main" r:embed="Rf429f41af79d47c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514350"/>
            <a:ext cx="20764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53BB11-9408-40E8-ABD8-5AE2F46C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049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59669"/>
                </a:solidFill>
              </a:defRPr>
            </a:pPr>
            <a:r>
              <a:rPr sz="1125" b="1">
                <a:solidFill>
                  <a:srgbClr val="059669"/>
                </a:solidFill>
              </a:rPr>
              <a:t>PREGUNTAS DEL EVALUADOR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9B2712-C578-48E7-BC2B-CAFED2DF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8382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Responder con marco: decision, evidencia y norma interna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E35BAD-9299-4900-8686-C916257D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32194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8FAC70-3B0E-46A4-8C83-1EABECC6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43300"/>
            <a:ext cx="2686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Si preguntan por evaluación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747309-F300-480E-913B-8D16764C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86250"/>
            <a:ext cx="2686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Responder desde el SIEE: formativa, retroalimentada y con oportunidades de mejora.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645D0-DD6D-441C-BB44-F0751E0A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81350"/>
            <a:ext cx="32194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39127B-24C6-4A4B-9FCE-6A05953F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43300"/>
            <a:ext cx="2686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Si preguntan por disciplina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78C136-8AB0-4021-A217-E5326DE9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86250"/>
            <a:ext cx="2686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8D0D8"/>
                </a:solidFill>
              </a:defRPr>
            </a:pPr>
            <a:r>
              <a:rPr sz="1500" b="0">
                <a:solidFill>
                  <a:srgbClr val="C8D0D8"/>
                </a:solidFill>
              </a:rPr>
              <a:t>Usar acuerdos de aula y rutas del manual, sin reducir el caso a castigo.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921571-9004-41C1-AB2D-989A93BE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81350"/>
            <a:ext cx="32194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E4BD91-90FC-4EA7-A51A-E24E0F01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43300"/>
            <a:ext cx="2686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Si preguntan por familias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5D0093-B5A2-4AAB-9EE3-63C4814B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86250"/>
            <a:ext cx="2686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Proponer comunicación viable y apoyos realistas, sin trasladar toda la carga.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AF8F30-BFBE-445D-9475-8D6B9908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05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</a:defRPr>
            </a:pPr>
            <a:r>
              <a:rPr sz="1050" b="0">
                <a:solidFill>
                  <a:srgbClr val="4B5563"/>
                </a:solidFill>
              </a:rPr>
              <a:t>Fuente: documento entregado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6A3CA5-2E72-4C5F-AA7E-3D612D26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3055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67284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2b25deb8464316">
            <a:extLst>
              <a:ext uri="{96DAC541-7B7A-43D3-8B79-37D633B846F1}">
                <asvg:svgBlip xmlns:asvg="http://schemas.microsoft.com/office/drawing/2016/SVG/main" r:embed="R2b6a737225d24b6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eeb666d279422b">
            <a:extLst>
              <a:ext uri="{96DAC541-7B7A-43D3-8B79-37D633B846F1}">
                <asvg:svgBlip xmlns:asvg="http://schemas.microsoft.com/office/drawing/2016/SVG/main" r:embed="R85504e17aaec43d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914900" y="1181100"/>
            <a:ext cx="2362200" cy="4191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02B04A-4AEC-402B-9C0E-A7FF64AA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2669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FF2C1"/>
                </a:solidFill>
              </a:defRPr>
            </a:pPr>
            <a:r>
              <a:rPr sz="1425" b="1">
                <a:solidFill>
                  <a:srgbClr val="8FF2C1"/>
                </a:solidFill>
              </a:rPr>
              <a:t>CIERRE PROPUESTO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6144E8-8454-471B-9050-14C752E0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95600"/>
            <a:ext cx="77724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Intervenir con evidencia, acompañar a los estudiantes y medir avances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EBACD-052E-457D-9172-D8BBA4E3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743450"/>
            <a:ext cx="6781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C8D0D8"/>
                </a:solidFill>
              </a:defRPr>
            </a:pPr>
            <a:r>
              <a:rPr sz="1725" b="0">
                <a:solidFill>
                  <a:srgbClr val="C8D0D8"/>
                </a:solidFill>
              </a:rPr>
              <a:t>La salida no es endurecer la evaluación como única respuesta; es articular PEI, SIEE, convivencia e inclusión.</a:t>
            </a:r>
          </a:p>
        </p:txBody>
      </p:sp>
    </p:spTree>
    <p:extLst>
      <p:ext uri="{BB962C8B-B14F-4D97-AF65-F5344CB8AC3E}">
        <p14:creationId xmlns:p14="http://schemas.microsoft.com/office/powerpoint/2010/main" val="2060968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2026-06-23T23:13:02.1060000Z</dcterms:created>
  <dcterms:modified xsi:type="dcterms:W3CDTF">2026-06-23T23:13:02.1060000Z</dcterms:modified>
</coreProperties>
</file>